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70EE5B-954C-4807-9CA9-1628C299D560}" v="32" dt="2025-04-12T16:52:08.1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25" d="100"/>
          <a:sy n="125" d="100"/>
        </p:scale>
        <p:origin x="-1963" y="-6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 Kumar" userId="6ff76955b0a8d324" providerId="LiveId" clId="{B670EE5B-954C-4807-9CA9-1628C299D560}"/>
    <pc:docChg chg="custSel addSld modSld">
      <pc:chgData name="Harish Kumar" userId="6ff76955b0a8d324" providerId="LiveId" clId="{B670EE5B-954C-4807-9CA9-1628C299D560}" dt="2025-04-14T06:17:57.015" v="275" actId="1035"/>
      <pc:docMkLst>
        <pc:docMk/>
      </pc:docMkLst>
      <pc:sldChg chg="modTransition">
        <pc:chgData name="Harish Kumar" userId="6ff76955b0a8d324" providerId="LiveId" clId="{B670EE5B-954C-4807-9CA9-1628C299D560}" dt="2025-04-12T16:51:16.909" v="256"/>
        <pc:sldMkLst>
          <pc:docMk/>
          <pc:sldMk cId="1385975114" sldId="256"/>
        </pc:sldMkLst>
      </pc:sldChg>
      <pc:sldChg chg="modTransition">
        <pc:chgData name="Harish Kumar" userId="6ff76955b0a8d324" providerId="LiveId" clId="{B670EE5B-954C-4807-9CA9-1628C299D560}" dt="2025-04-12T16:51:31.526" v="257"/>
        <pc:sldMkLst>
          <pc:docMk/>
          <pc:sldMk cId="1420335789" sldId="257"/>
        </pc:sldMkLst>
      </pc:sldChg>
      <pc:sldChg chg="modTransition">
        <pc:chgData name="Harish Kumar" userId="6ff76955b0a8d324" providerId="LiveId" clId="{B670EE5B-954C-4807-9CA9-1628C299D560}" dt="2025-04-12T16:51:37.261" v="258"/>
        <pc:sldMkLst>
          <pc:docMk/>
          <pc:sldMk cId="2031863211" sldId="258"/>
        </pc:sldMkLst>
      </pc:sldChg>
      <pc:sldChg chg="addSp modSp mod modTransition">
        <pc:chgData name="Harish Kumar" userId="6ff76955b0a8d324" providerId="LiveId" clId="{B670EE5B-954C-4807-9CA9-1628C299D560}" dt="2025-04-12T16:51:39.417" v="259"/>
        <pc:sldMkLst>
          <pc:docMk/>
          <pc:sldMk cId="4050323935" sldId="259"/>
        </pc:sldMkLst>
        <pc:picChg chg="add mod">
          <ac:chgData name="Harish Kumar" userId="6ff76955b0a8d324" providerId="LiveId" clId="{B670EE5B-954C-4807-9CA9-1628C299D560}" dt="2025-04-12T16:23:20.702" v="6" actId="1076"/>
          <ac:picMkLst>
            <pc:docMk/>
            <pc:sldMk cId="4050323935" sldId="259"/>
            <ac:picMk id="4" creationId="{84BA1544-70B9-8215-D7F3-95C4F258C19D}"/>
          </ac:picMkLst>
        </pc:picChg>
      </pc:sldChg>
      <pc:sldChg chg="addSp delSp modSp new mod modTransition">
        <pc:chgData name="Harish Kumar" userId="6ff76955b0a8d324" providerId="LiveId" clId="{B670EE5B-954C-4807-9CA9-1628C299D560}" dt="2025-04-12T16:51:43.042" v="260"/>
        <pc:sldMkLst>
          <pc:docMk/>
          <pc:sldMk cId="3596504251" sldId="260"/>
        </pc:sldMkLst>
        <pc:spChg chg="add mod">
          <ac:chgData name="Harish Kumar" userId="6ff76955b0a8d324" providerId="LiveId" clId="{B670EE5B-954C-4807-9CA9-1628C299D560}" dt="2025-04-12T16:25:08.249" v="29" actId="1076"/>
          <ac:spMkLst>
            <pc:docMk/>
            <pc:sldMk cId="3596504251" sldId="260"/>
            <ac:spMk id="4" creationId="{AD97C9AF-BF74-8BEE-3231-65E087DAA0A1}"/>
          </ac:spMkLst>
        </pc:spChg>
        <pc:spChg chg="add mod">
          <ac:chgData name="Harish Kumar" userId="6ff76955b0a8d324" providerId="LiveId" clId="{B670EE5B-954C-4807-9CA9-1628C299D560}" dt="2025-04-12T16:25:00.217" v="25" actId="1076"/>
          <ac:spMkLst>
            <pc:docMk/>
            <pc:sldMk cId="3596504251" sldId="260"/>
            <ac:spMk id="6" creationId="{04CCD5DD-4F9E-33F3-F5C1-B4FE0095078F}"/>
          </ac:spMkLst>
        </pc:spChg>
        <pc:picChg chg="add mod">
          <ac:chgData name="Harish Kumar" userId="6ff76955b0a8d324" providerId="LiveId" clId="{B670EE5B-954C-4807-9CA9-1628C299D560}" dt="2025-04-12T16:28:01.945" v="35" actId="1076"/>
          <ac:picMkLst>
            <pc:docMk/>
            <pc:sldMk cId="3596504251" sldId="260"/>
            <ac:picMk id="8" creationId="{5039FA24-B839-A11D-1DFF-0E3E57E88F81}"/>
          </ac:picMkLst>
        </pc:picChg>
      </pc:sldChg>
      <pc:sldChg chg="addSp delSp modSp new mod modTransition">
        <pc:chgData name="Harish Kumar" userId="6ff76955b0a8d324" providerId="LiveId" clId="{B670EE5B-954C-4807-9CA9-1628C299D560}" dt="2025-04-12T16:51:45.589" v="261"/>
        <pc:sldMkLst>
          <pc:docMk/>
          <pc:sldMk cId="479871648" sldId="261"/>
        </pc:sldMkLst>
        <pc:spChg chg="add mod">
          <ac:chgData name="Harish Kumar" userId="6ff76955b0a8d324" providerId="LiveId" clId="{B670EE5B-954C-4807-9CA9-1628C299D560}" dt="2025-04-12T16:28:52.768" v="41" actId="1076"/>
          <ac:spMkLst>
            <pc:docMk/>
            <pc:sldMk cId="479871648" sldId="261"/>
            <ac:spMk id="3" creationId="{B42CC1FC-8343-7D75-E8EC-73ACEA52F747}"/>
          </ac:spMkLst>
        </pc:spChg>
        <pc:spChg chg="add mod">
          <ac:chgData name="Harish Kumar" userId="6ff76955b0a8d324" providerId="LiveId" clId="{B670EE5B-954C-4807-9CA9-1628C299D560}" dt="2025-04-12T16:29:43.791" v="62" actId="14100"/>
          <ac:spMkLst>
            <pc:docMk/>
            <pc:sldMk cId="479871648" sldId="261"/>
            <ac:spMk id="6" creationId="{213FF97E-A0AE-7D06-16EB-CA079BA49080}"/>
          </ac:spMkLst>
        </pc:spChg>
        <pc:picChg chg="add mod">
          <ac:chgData name="Harish Kumar" userId="6ff76955b0a8d324" providerId="LiveId" clId="{B670EE5B-954C-4807-9CA9-1628C299D560}" dt="2025-04-12T16:30:30.978" v="70" actId="1076"/>
          <ac:picMkLst>
            <pc:docMk/>
            <pc:sldMk cId="479871648" sldId="261"/>
            <ac:picMk id="8" creationId="{5502E43A-A0F3-EC11-E6AB-3E49BE7833C9}"/>
          </ac:picMkLst>
        </pc:picChg>
      </pc:sldChg>
      <pc:sldChg chg="addSp delSp modSp new mod modTransition">
        <pc:chgData name="Harish Kumar" userId="6ff76955b0a8d324" providerId="LiveId" clId="{B670EE5B-954C-4807-9CA9-1628C299D560}" dt="2025-04-12T16:51:49.473" v="262"/>
        <pc:sldMkLst>
          <pc:docMk/>
          <pc:sldMk cId="3339826419" sldId="262"/>
        </pc:sldMkLst>
        <pc:spChg chg="add mod">
          <ac:chgData name="Harish Kumar" userId="6ff76955b0a8d324" providerId="LiveId" clId="{B670EE5B-954C-4807-9CA9-1628C299D560}" dt="2025-04-12T16:37:25.725" v="127"/>
          <ac:spMkLst>
            <pc:docMk/>
            <pc:sldMk cId="3339826419" sldId="262"/>
            <ac:spMk id="6" creationId="{28B11DD6-0F6E-B5F8-70AB-3F669D4E85AE}"/>
          </ac:spMkLst>
        </pc:spChg>
        <pc:spChg chg="add mod">
          <ac:chgData name="Harish Kumar" userId="6ff76955b0a8d324" providerId="LiveId" clId="{B670EE5B-954C-4807-9CA9-1628C299D560}" dt="2025-04-12T16:37:09.398" v="125" actId="1076"/>
          <ac:spMkLst>
            <pc:docMk/>
            <pc:sldMk cId="3339826419" sldId="262"/>
            <ac:spMk id="9" creationId="{CAA9C2BE-2870-CA4E-0858-36FFA9BFFF84}"/>
          </ac:spMkLst>
        </pc:spChg>
        <pc:picChg chg="add mod">
          <ac:chgData name="Harish Kumar" userId="6ff76955b0a8d324" providerId="LiveId" clId="{B670EE5B-954C-4807-9CA9-1628C299D560}" dt="2025-04-12T16:38:05.512" v="132" actId="1076"/>
          <ac:picMkLst>
            <pc:docMk/>
            <pc:sldMk cId="3339826419" sldId="262"/>
            <ac:picMk id="11" creationId="{D3FCBA8C-22DC-45F5-0E41-E3CE5B1E9B08}"/>
          </ac:picMkLst>
        </pc:picChg>
      </pc:sldChg>
      <pc:sldChg chg="addSp delSp modSp new mod modTransition">
        <pc:chgData name="Harish Kumar" userId="6ff76955b0a8d324" providerId="LiveId" clId="{B670EE5B-954C-4807-9CA9-1628C299D560}" dt="2025-04-12T16:51:51.957" v="263"/>
        <pc:sldMkLst>
          <pc:docMk/>
          <pc:sldMk cId="2937443651" sldId="263"/>
        </pc:sldMkLst>
        <pc:spChg chg="add mod">
          <ac:chgData name="Harish Kumar" userId="6ff76955b0a8d324" providerId="LiveId" clId="{B670EE5B-954C-4807-9CA9-1628C299D560}" dt="2025-04-12T16:38:51.428" v="139" actId="1076"/>
          <ac:spMkLst>
            <pc:docMk/>
            <pc:sldMk cId="2937443651" sldId="263"/>
            <ac:spMk id="3" creationId="{6D9D998B-FB07-DADB-576C-95F84F111256}"/>
          </ac:spMkLst>
        </pc:spChg>
        <pc:spChg chg="add mod">
          <ac:chgData name="Harish Kumar" userId="6ff76955b0a8d324" providerId="LiveId" clId="{B670EE5B-954C-4807-9CA9-1628C299D560}" dt="2025-04-12T16:39:33.649" v="151" actId="1076"/>
          <ac:spMkLst>
            <pc:docMk/>
            <pc:sldMk cId="2937443651" sldId="263"/>
            <ac:spMk id="6" creationId="{6F98E1DF-71DD-44E2-7A25-06F0956D921C}"/>
          </ac:spMkLst>
        </pc:spChg>
        <pc:picChg chg="add mod">
          <ac:chgData name="Harish Kumar" userId="6ff76955b0a8d324" providerId="LiveId" clId="{B670EE5B-954C-4807-9CA9-1628C299D560}" dt="2025-04-12T16:42:46.747" v="180" actId="1440"/>
          <ac:picMkLst>
            <pc:docMk/>
            <pc:sldMk cId="2937443651" sldId="263"/>
            <ac:picMk id="10" creationId="{AAF31233-5076-ECC2-F4EF-84C30021D87F}"/>
          </ac:picMkLst>
        </pc:picChg>
      </pc:sldChg>
      <pc:sldChg chg="addSp modSp new mod modTransition">
        <pc:chgData name="Harish Kumar" userId="6ff76955b0a8d324" providerId="LiveId" clId="{B670EE5B-954C-4807-9CA9-1628C299D560}" dt="2025-04-12T16:51:54.691" v="264"/>
        <pc:sldMkLst>
          <pc:docMk/>
          <pc:sldMk cId="2221469452" sldId="264"/>
        </pc:sldMkLst>
        <pc:spChg chg="add mod">
          <ac:chgData name="Harish Kumar" userId="6ff76955b0a8d324" providerId="LiveId" clId="{B670EE5B-954C-4807-9CA9-1628C299D560}" dt="2025-04-12T16:40:33.385" v="163" actId="1076"/>
          <ac:spMkLst>
            <pc:docMk/>
            <pc:sldMk cId="2221469452" sldId="264"/>
            <ac:spMk id="3" creationId="{4177C520-4F7B-23F6-1011-C4C7314B1D0E}"/>
          </ac:spMkLst>
        </pc:spChg>
        <pc:spChg chg="add mod">
          <ac:chgData name="Harish Kumar" userId="6ff76955b0a8d324" providerId="LiveId" clId="{B670EE5B-954C-4807-9CA9-1628C299D560}" dt="2025-04-12T16:41:43.393" v="176" actId="403"/>
          <ac:spMkLst>
            <pc:docMk/>
            <pc:sldMk cId="2221469452" sldId="264"/>
            <ac:spMk id="5" creationId="{36F173F0-D02B-E8FA-1AED-9D8CD036D21B}"/>
          </ac:spMkLst>
        </pc:spChg>
        <pc:picChg chg="add mod">
          <ac:chgData name="Harish Kumar" userId="6ff76955b0a8d324" providerId="LiveId" clId="{B670EE5B-954C-4807-9CA9-1628C299D560}" dt="2025-04-12T16:43:07.825" v="183" actId="1076"/>
          <ac:picMkLst>
            <pc:docMk/>
            <pc:sldMk cId="2221469452" sldId="264"/>
            <ac:picMk id="7" creationId="{C6F6DC19-E884-6F8A-F2A3-65E38760B4D1}"/>
          </ac:picMkLst>
        </pc:picChg>
      </pc:sldChg>
      <pc:sldChg chg="addSp delSp modSp new mod modTransition">
        <pc:chgData name="Harish Kumar" userId="6ff76955b0a8d324" providerId="LiveId" clId="{B670EE5B-954C-4807-9CA9-1628C299D560}" dt="2025-04-14T06:17:57.015" v="275" actId="1035"/>
        <pc:sldMkLst>
          <pc:docMk/>
          <pc:sldMk cId="379501580" sldId="265"/>
        </pc:sldMkLst>
        <pc:spChg chg="add mod">
          <ac:chgData name="Harish Kumar" userId="6ff76955b0a8d324" providerId="LiveId" clId="{B670EE5B-954C-4807-9CA9-1628C299D560}" dt="2025-04-12T16:43:50.298" v="191" actId="1076"/>
          <ac:spMkLst>
            <pc:docMk/>
            <pc:sldMk cId="379501580" sldId="265"/>
            <ac:spMk id="3" creationId="{1981447F-CB0C-AE1D-C960-B83C15B0BD3C}"/>
          </ac:spMkLst>
        </pc:spChg>
        <pc:spChg chg="add mod">
          <ac:chgData name="Harish Kumar" userId="6ff76955b0a8d324" providerId="LiveId" clId="{B670EE5B-954C-4807-9CA9-1628C299D560}" dt="2025-04-12T16:44:30.218" v="202" actId="1076"/>
          <ac:spMkLst>
            <pc:docMk/>
            <pc:sldMk cId="379501580" sldId="265"/>
            <ac:spMk id="6" creationId="{3CEFF6E6-F1C1-1D5F-285C-67B4520A3154}"/>
          </ac:spMkLst>
        </pc:spChg>
        <pc:picChg chg="add mod">
          <ac:chgData name="Harish Kumar" userId="6ff76955b0a8d324" providerId="LiveId" clId="{B670EE5B-954C-4807-9CA9-1628C299D560}" dt="2025-04-14T06:17:57.015" v="275" actId="1035"/>
          <ac:picMkLst>
            <pc:docMk/>
            <pc:sldMk cId="379501580" sldId="265"/>
            <ac:picMk id="8" creationId="{4E302B2B-D375-14AB-D676-35298C017DD9}"/>
          </ac:picMkLst>
        </pc:picChg>
      </pc:sldChg>
      <pc:sldChg chg="addSp delSp modSp new mod modTransition">
        <pc:chgData name="Harish Kumar" userId="6ff76955b0a8d324" providerId="LiveId" clId="{B670EE5B-954C-4807-9CA9-1628C299D560}" dt="2025-04-12T16:52:02.427" v="267"/>
        <pc:sldMkLst>
          <pc:docMk/>
          <pc:sldMk cId="3085961103" sldId="266"/>
        </pc:sldMkLst>
        <pc:spChg chg="add mod">
          <ac:chgData name="Harish Kumar" userId="6ff76955b0a8d324" providerId="LiveId" clId="{B670EE5B-954C-4807-9CA9-1628C299D560}" dt="2025-04-12T16:46:01.316" v="214" actId="1076"/>
          <ac:spMkLst>
            <pc:docMk/>
            <pc:sldMk cId="3085961103" sldId="266"/>
            <ac:spMk id="3" creationId="{57CBB148-6946-192B-0EA5-804EEC29D09D}"/>
          </ac:spMkLst>
        </pc:spChg>
        <pc:spChg chg="add mod">
          <ac:chgData name="Harish Kumar" userId="6ff76955b0a8d324" providerId="LiveId" clId="{B670EE5B-954C-4807-9CA9-1628C299D560}" dt="2025-04-12T16:47:44.769" v="237" actId="1076"/>
          <ac:spMkLst>
            <pc:docMk/>
            <pc:sldMk cId="3085961103" sldId="266"/>
            <ac:spMk id="6" creationId="{239F86B0-12EA-FEB2-6764-17F63815E482}"/>
          </ac:spMkLst>
        </pc:spChg>
        <pc:picChg chg="add mod">
          <ac:chgData name="Harish Kumar" userId="6ff76955b0a8d324" providerId="LiveId" clId="{B670EE5B-954C-4807-9CA9-1628C299D560}" dt="2025-04-12T16:47:27.639" v="233" actId="1076"/>
          <ac:picMkLst>
            <pc:docMk/>
            <pc:sldMk cId="3085961103" sldId="266"/>
            <ac:picMk id="8" creationId="{3A31DFB4-75F6-BC27-03C4-158057453670}"/>
          </ac:picMkLst>
        </pc:picChg>
      </pc:sldChg>
      <pc:sldChg chg="addSp modSp new mod modTransition">
        <pc:chgData name="Harish Kumar" userId="6ff76955b0a8d324" providerId="LiveId" clId="{B670EE5B-954C-4807-9CA9-1628C299D560}" dt="2025-04-12T16:52:05.589" v="268"/>
        <pc:sldMkLst>
          <pc:docMk/>
          <pc:sldMk cId="1874435406" sldId="267"/>
        </pc:sldMkLst>
        <pc:spChg chg="add mod">
          <ac:chgData name="Harish Kumar" userId="6ff76955b0a8d324" providerId="LiveId" clId="{B670EE5B-954C-4807-9CA9-1628C299D560}" dt="2025-04-12T16:48:54.442" v="250" actId="403"/>
          <ac:spMkLst>
            <pc:docMk/>
            <pc:sldMk cId="1874435406" sldId="267"/>
            <ac:spMk id="3" creationId="{972D4E52-7623-1114-6FA6-1B86FEF1AECF}"/>
          </ac:spMkLst>
        </pc:spChg>
        <pc:spChg chg="add mod">
          <ac:chgData name="Harish Kumar" userId="6ff76955b0a8d324" providerId="LiveId" clId="{B670EE5B-954C-4807-9CA9-1628C299D560}" dt="2025-04-12T16:49:00.629" v="251" actId="1076"/>
          <ac:spMkLst>
            <pc:docMk/>
            <pc:sldMk cId="1874435406" sldId="267"/>
            <ac:spMk id="5" creationId="{DBF88153-87A1-99AD-2E92-672745B3C219}"/>
          </ac:spMkLst>
        </pc:spChg>
      </pc:sldChg>
      <pc:sldChg chg="addSp modSp new modTransition">
        <pc:chgData name="Harish Kumar" userId="6ff76955b0a8d324" providerId="LiveId" clId="{B670EE5B-954C-4807-9CA9-1628C299D560}" dt="2025-04-12T16:52:08.177" v="269"/>
        <pc:sldMkLst>
          <pc:docMk/>
          <pc:sldMk cId="1963617052" sldId="268"/>
        </pc:sldMkLst>
        <pc:picChg chg="add mod">
          <ac:chgData name="Harish Kumar" userId="6ff76955b0a8d324" providerId="LiveId" clId="{B670EE5B-954C-4807-9CA9-1628C299D560}" dt="2025-04-12T16:49:54.561" v="254" actId="1076"/>
          <ac:picMkLst>
            <pc:docMk/>
            <pc:sldMk cId="1963617052" sldId="268"/>
            <ac:picMk id="7170" creationId="{3DC9F106-97DB-558F-3B61-935A9C6921B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606166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9239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2142297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99401F-CDD6-4EA3-BFF4-DD65F0C9EAD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234840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99401F-CDD6-4EA3-BFF4-DD65F0C9EADC}" type="datetimeFigureOut">
              <a:rPr lang="en-IN" smtClean="0"/>
              <a:t>14-04-2025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3182785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99401F-CDD6-4EA3-BFF4-DD65F0C9EADC}" type="datetimeFigureOut">
              <a:rPr lang="en-IN" smtClean="0"/>
              <a:t>14-04-2025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2583505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99401F-CDD6-4EA3-BFF4-DD65F0C9EADC}" type="datetimeFigureOut">
              <a:rPr lang="en-IN" smtClean="0"/>
              <a:t>14-04-2025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2659382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9401F-CDD6-4EA3-BFF4-DD65F0C9EAD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256545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99401F-CDD6-4EA3-BFF4-DD65F0C9EADC}" type="datetimeFigureOut">
              <a:rPr lang="en-IN" smtClean="0"/>
              <a:t>14-04-2025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31607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3180048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99128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366707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7815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32255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678174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401F-CDD6-4EA3-BFF4-DD65F0C9EADC}" type="datetimeFigureOut">
              <a:rPr lang="en-IN" smtClean="0"/>
              <a:t>14-04-2025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19C8A6-5A64-42DC-9762-9E76D62DEC20}" type="slidenum">
              <a:rPr lang="en-IN" smtClean="0"/>
              <a:t>‹#›</a:t>
            </a:fld>
            <a:endParaRPr lang="en-IN"/>
          </a:p>
        </p:txBody>
      </p:sp>
    </p:spTree>
    <p:extLst>
      <p:ext uri="{BB962C8B-B14F-4D97-AF65-F5344CB8AC3E}">
        <p14:creationId xmlns:p14="http://schemas.microsoft.com/office/powerpoint/2010/main" val="128056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B99401F-CDD6-4EA3-BFF4-DD65F0C9EADC}" type="datetimeFigureOut">
              <a:rPr lang="en-IN" smtClean="0"/>
              <a:t>14-04-2025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219C8A6-5A64-42DC-9762-9E76D62DEC20}" type="slidenum">
              <a:rPr lang="en-IN" smtClean="0"/>
              <a:t>‹#›</a:t>
            </a:fld>
            <a:endParaRPr lang="en-IN"/>
          </a:p>
        </p:txBody>
      </p:sp>
    </p:spTree>
    <p:extLst>
      <p:ext uri="{BB962C8B-B14F-4D97-AF65-F5344CB8AC3E}">
        <p14:creationId xmlns:p14="http://schemas.microsoft.com/office/powerpoint/2010/main" val="245529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63D1CB-0EB1-B607-2EF2-A973EA397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718" y="-1110234"/>
            <a:ext cx="4762500" cy="4762500"/>
          </a:xfrm>
          <a:prstGeom prst="rect">
            <a:avLst/>
          </a:prstGeom>
        </p:spPr>
      </p:pic>
      <p:sp>
        <p:nvSpPr>
          <p:cNvPr id="6" name="TextBox 5">
            <a:extLst>
              <a:ext uri="{FF2B5EF4-FFF2-40B4-BE49-F238E27FC236}">
                <a16:creationId xmlns:a16="http://schemas.microsoft.com/office/drawing/2014/main" id="{08899A61-37BE-5BE8-206E-1E1481BDC521}"/>
              </a:ext>
            </a:extLst>
          </p:cNvPr>
          <p:cNvSpPr txBox="1"/>
          <p:nvPr/>
        </p:nvSpPr>
        <p:spPr>
          <a:xfrm>
            <a:off x="1099566" y="3125230"/>
            <a:ext cx="9096756" cy="2308324"/>
          </a:xfrm>
          <a:prstGeom prst="rect">
            <a:avLst/>
          </a:prstGeom>
          <a:noFill/>
        </p:spPr>
        <p:txBody>
          <a:bodyPr wrap="square" rtlCol="0">
            <a:spAutoFit/>
          </a:bodyPr>
          <a:lstStyle/>
          <a:p>
            <a:pPr algn="ctr"/>
            <a:r>
              <a:rPr lang="en-US" sz="3600" dirty="0"/>
              <a:t>Submitted by: Priyanshu Tanwar </a:t>
            </a:r>
          </a:p>
          <a:p>
            <a:pPr algn="ctr"/>
            <a:r>
              <a:rPr lang="en-US" sz="3600" dirty="0"/>
              <a:t>Registration No: 12303519</a:t>
            </a:r>
          </a:p>
          <a:p>
            <a:pPr algn="ctr"/>
            <a:r>
              <a:rPr lang="en-US" sz="3600" dirty="0"/>
              <a:t> </a:t>
            </a:r>
            <a:r>
              <a:rPr lang="en-US" sz="3600" dirty="0" err="1"/>
              <a:t>Programme</a:t>
            </a:r>
            <a:r>
              <a:rPr lang="en-US" sz="3600" dirty="0"/>
              <a:t> and Section: </a:t>
            </a:r>
            <a:r>
              <a:rPr lang="en-US" sz="3600" dirty="0" err="1"/>
              <a:t>Btech</a:t>
            </a:r>
            <a:r>
              <a:rPr lang="en-US" sz="3600" dirty="0"/>
              <a:t> </a:t>
            </a:r>
            <a:r>
              <a:rPr lang="en-US" sz="3600" dirty="0" err="1"/>
              <a:t>Cse</a:t>
            </a:r>
            <a:r>
              <a:rPr lang="en-US" sz="3600" dirty="0"/>
              <a:t> and K23SH </a:t>
            </a:r>
          </a:p>
          <a:p>
            <a:pPr algn="ctr"/>
            <a:r>
              <a:rPr lang="en-US" sz="3600" dirty="0"/>
              <a:t>Course Code: INT-217 </a:t>
            </a:r>
            <a:endParaRPr lang="en-IN" sz="3600" dirty="0"/>
          </a:p>
        </p:txBody>
      </p:sp>
      <p:sp>
        <p:nvSpPr>
          <p:cNvPr id="7" name="TextBox 6">
            <a:extLst>
              <a:ext uri="{FF2B5EF4-FFF2-40B4-BE49-F238E27FC236}">
                <a16:creationId xmlns:a16="http://schemas.microsoft.com/office/drawing/2014/main" id="{0BC7EC1E-5915-610A-36B9-E6BF2F1760DF}"/>
              </a:ext>
            </a:extLst>
          </p:cNvPr>
          <p:cNvSpPr txBox="1"/>
          <p:nvPr/>
        </p:nvSpPr>
        <p:spPr>
          <a:xfrm>
            <a:off x="1508760" y="2221992"/>
            <a:ext cx="9015984" cy="707886"/>
          </a:xfrm>
          <a:prstGeom prst="rect">
            <a:avLst/>
          </a:prstGeom>
          <a:noFill/>
        </p:spPr>
        <p:txBody>
          <a:bodyPr wrap="square" rtlCol="0">
            <a:spAutoFit/>
          </a:bodyPr>
          <a:lstStyle/>
          <a:p>
            <a:r>
              <a:rPr lang="en-IN" sz="4000" dirty="0">
                <a:latin typeface="Arial Rounded MT Bold" panose="020F0704030504030204" pitchFamily="34" charset="0"/>
              </a:rPr>
              <a:t>Electric Vehicle Population Analysis</a:t>
            </a:r>
          </a:p>
        </p:txBody>
      </p:sp>
    </p:spTree>
    <p:extLst>
      <p:ext uri="{BB962C8B-B14F-4D97-AF65-F5344CB8AC3E}">
        <p14:creationId xmlns:p14="http://schemas.microsoft.com/office/powerpoint/2010/main" val="13859751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A3E529-FB69-44EF-CEF7-D9EA95A8F328}"/>
              </a:ext>
            </a:extLst>
          </p:cNvPr>
          <p:cNvSpPr txBox="1"/>
          <p:nvPr/>
        </p:nvSpPr>
        <p:spPr>
          <a:xfrm>
            <a:off x="3767328" y="237744"/>
            <a:ext cx="4087368" cy="707886"/>
          </a:xfrm>
          <a:prstGeom prst="rect">
            <a:avLst/>
          </a:prstGeom>
          <a:noFill/>
        </p:spPr>
        <p:txBody>
          <a:bodyPr wrap="square" rtlCol="0">
            <a:spAutoFit/>
          </a:bodyPr>
          <a:lstStyle/>
          <a:p>
            <a:r>
              <a:rPr lang="en-IN" sz="4000" dirty="0"/>
              <a:t>Introduction</a:t>
            </a:r>
          </a:p>
        </p:txBody>
      </p:sp>
      <p:sp>
        <p:nvSpPr>
          <p:cNvPr id="3" name="TextBox 2">
            <a:extLst>
              <a:ext uri="{FF2B5EF4-FFF2-40B4-BE49-F238E27FC236}">
                <a16:creationId xmlns:a16="http://schemas.microsoft.com/office/drawing/2014/main" id="{EDD3E6D2-AE76-1484-7EA0-D914AAEE70D3}"/>
              </a:ext>
            </a:extLst>
          </p:cNvPr>
          <p:cNvSpPr txBox="1"/>
          <p:nvPr/>
        </p:nvSpPr>
        <p:spPr>
          <a:xfrm>
            <a:off x="173736" y="1325880"/>
            <a:ext cx="8284464" cy="4524315"/>
          </a:xfrm>
          <a:prstGeom prst="rect">
            <a:avLst/>
          </a:prstGeom>
          <a:noFill/>
        </p:spPr>
        <p:txBody>
          <a:bodyPr wrap="square" rtlCol="0">
            <a:spAutoFit/>
          </a:bodyPr>
          <a:lstStyle/>
          <a:p>
            <a:r>
              <a:rPr lang="en-US" sz="3200" dirty="0"/>
              <a:t>Electric vehicles (EVs) are revolutionizing the transportation landscape by offering a sustainable alternative to traditional internal combustion engines. This project explores the electric vehicle population dataset through Excel, leveraging its powerful data analysis and visualization features to uncover key insights and patterns in EV adoption.</a:t>
            </a:r>
            <a:endParaRPr lang="en-IN" sz="3200" dirty="0"/>
          </a:p>
        </p:txBody>
      </p:sp>
      <p:pic>
        <p:nvPicPr>
          <p:cNvPr id="1026" name="Picture 2">
            <a:extLst>
              <a:ext uri="{FF2B5EF4-FFF2-40B4-BE49-F238E27FC236}">
                <a16:creationId xmlns:a16="http://schemas.microsoft.com/office/drawing/2014/main" id="{B44E3535-4C43-4A83-1C89-80F58EBBC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0368" y="1793397"/>
            <a:ext cx="4021632" cy="358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3357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01F4F6-B6C6-A32B-BD82-CF97B4C093B5}"/>
              </a:ext>
            </a:extLst>
          </p:cNvPr>
          <p:cNvSpPr txBox="1"/>
          <p:nvPr/>
        </p:nvSpPr>
        <p:spPr>
          <a:xfrm>
            <a:off x="3118104" y="210312"/>
            <a:ext cx="3831336" cy="646331"/>
          </a:xfrm>
          <a:prstGeom prst="rect">
            <a:avLst/>
          </a:prstGeom>
          <a:noFill/>
        </p:spPr>
        <p:txBody>
          <a:bodyPr wrap="square" rtlCol="0">
            <a:spAutoFit/>
          </a:bodyPr>
          <a:lstStyle/>
          <a:p>
            <a:r>
              <a:rPr lang="en-IN" sz="3600" dirty="0"/>
              <a:t>Dataset Overview</a:t>
            </a:r>
          </a:p>
        </p:txBody>
      </p:sp>
      <p:sp>
        <p:nvSpPr>
          <p:cNvPr id="18" name="TextBox 17">
            <a:extLst>
              <a:ext uri="{FF2B5EF4-FFF2-40B4-BE49-F238E27FC236}">
                <a16:creationId xmlns:a16="http://schemas.microsoft.com/office/drawing/2014/main" id="{B5AC7736-93F4-8CEA-AFAE-3B587C44AF78}"/>
              </a:ext>
            </a:extLst>
          </p:cNvPr>
          <p:cNvSpPr txBox="1"/>
          <p:nvPr/>
        </p:nvSpPr>
        <p:spPr>
          <a:xfrm>
            <a:off x="432054" y="1072949"/>
            <a:ext cx="6755130" cy="440120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Source:</a:t>
            </a:r>
            <a:r>
              <a:rPr kumimoji="0" lang="en-US" altLang="en-US" sz="2800" b="0" i="0" u="none" strike="noStrike" cap="none" normalizeH="0" baseline="0" dirty="0">
                <a:ln>
                  <a:noFill/>
                </a:ln>
                <a:solidFill>
                  <a:schemeClr val="tx1"/>
                </a:solidFill>
                <a:effectLst/>
                <a:latin typeface="Arial" panose="020B0604020202020204" pitchFamily="34" charset="0"/>
              </a:rPr>
              <a:t> Official Open Government Dataset on EVs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Scope:</a:t>
            </a:r>
            <a:r>
              <a:rPr kumimoji="0" lang="en-US" altLang="en-US" sz="2800" b="0" i="0" u="none" strike="noStrike" cap="none" normalizeH="0" baseline="0" dirty="0">
                <a:ln>
                  <a:noFill/>
                </a:ln>
                <a:solidFill>
                  <a:schemeClr val="tx1"/>
                </a:solidFill>
                <a:effectLst/>
                <a:latin typeface="Arial" panose="020B0604020202020204" pitchFamily="34" charset="0"/>
              </a:rPr>
              <a:t> Electric vehicle registration and details across various parameters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Attributes Covered:</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Vehicle Make and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EV Type (Battery Electric/Plug-in Hybrid)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Region &amp; City of Registration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Model Year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Electric Range</a:t>
            </a:r>
          </a:p>
        </p:txBody>
      </p:sp>
      <p:pic>
        <p:nvPicPr>
          <p:cNvPr id="20" name="Picture 19">
            <a:extLst>
              <a:ext uri="{FF2B5EF4-FFF2-40B4-BE49-F238E27FC236}">
                <a16:creationId xmlns:a16="http://schemas.microsoft.com/office/drawing/2014/main" id="{C29B9BD9-B881-757B-B2D5-DD921AA911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4032" y="1830350"/>
            <a:ext cx="4971026" cy="2886402"/>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2031863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0CCA02-7C73-2575-E104-C7AAAE42E489}"/>
              </a:ext>
            </a:extLst>
          </p:cNvPr>
          <p:cNvSpPr txBox="1"/>
          <p:nvPr/>
        </p:nvSpPr>
        <p:spPr>
          <a:xfrm>
            <a:off x="550164" y="1228397"/>
            <a:ext cx="5545836" cy="4401205"/>
          </a:xfrm>
          <a:prstGeom prst="rect">
            <a:avLst/>
          </a:prstGeom>
          <a:noFill/>
        </p:spPr>
        <p:txBody>
          <a:bodyPr wrap="square">
            <a:spAutoFit/>
          </a:bodyPr>
          <a:lstStyle/>
          <a:p>
            <a:pPr marL="285750" indent="-285750">
              <a:buFont typeface="Arial" panose="020B0604020202020204" pitchFamily="34" charset="0"/>
              <a:buChar char="•"/>
            </a:pPr>
            <a:r>
              <a:rPr lang="en-IN" sz="2800" b="1" dirty="0"/>
              <a:t> </a:t>
            </a:r>
            <a:r>
              <a:rPr lang="en-IN" sz="2800" dirty="0"/>
              <a:t>Removed unnecessary columns for clarity</a:t>
            </a:r>
          </a:p>
          <a:p>
            <a:pPr marL="285750" indent="-285750">
              <a:buFont typeface="Arial" panose="020B0604020202020204" pitchFamily="34" charset="0"/>
              <a:buChar char="•"/>
            </a:pPr>
            <a:r>
              <a:rPr lang="en-IN" sz="2800" dirty="0"/>
              <a:t>Cleaned null and inconsistent entries</a:t>
            </a:r>
          </a:p>
          <a:p>
            <a:pPr marL="285750" indent="-285750">
              <a:buFont typeface="Arial" panose="020B0604020202020204" pitchFamily="34" charset="0"/>
              <a:buChar char="•"/>
            </a:pPr>
            <a:r>
              <a:rPr lang="en-IN" sz="2800" dirty="0"/>
              <a:t>Standardized vehicle types and regional names</a:t>
            </a:r>
          </a:p>
          <a:p>
            <a:pPr marL="285750" indent="-285750">
              <a:buFont typeface="Arial" panose="020B0604020202020204" pitchFamily="34" charset="0"/>
              <a:buChar char="•"/>
            </a:pPr>
            <a:r>
              <a:rPr lang="en-IN" sz="2800" dirty="0"/>
              <a:t>Converted data types for accurate calculations</a:t>
            </a:r>
          </a:p>
          <a:p>
            <a:pPr marL="285750" indent="-285750">
              <a:buFont typeface="Arial" panose="020B0604020202020204" pitchFamily="34" charset="0"/>
              <a:buChar char="•"/>
            </a:pPr>
            <a:r>
              <a:rPr lang="en-IN" sz="2800" dirty="0"/>
              <a:t>Created pivot-friendly formats for analysis</a:t>
            </a:r>
          </a:p>
        </p:txBody>
      </p:sp>
      <p:sp>
        <p:nvSpPr>
          <p:cNvPr id="5" name="TextBox 4">
            <a:extLst>
              <a:ext uri="{FF2B5EF4-FFF2-40B4-BE49-F238E27FC236}">
                <a16:creationId xmlns:a16="http://schemas.microsoft.com/office/drawing/2014/main" id="{4A4CF7A0-6965-47DB-EA1E-50A171A41BC0}"/>
              </a:ext>
            </a:extLst>
          </p:cNvPr>
          <p:cNvSpPr txBox="1"/>
          <p:nvPr/>
        </p:nvSpPr>
        <p:spPr>
          <a:xfrm>
            <a:off x="3241548" y="94226"/>
            <a:ext cx="6099048" cy="646331"/>
          </a:xfrm>
          <a:prstGeom prst="rect">
            <a:avLst/>
          </a:prstGeom>
          <a:noFill/>
        </p:spPr>
        <p:txBody>
          <a:bodyPr wrap="square">
            <a:spAutoFit/>
          </a:bodyPr>
          <a:lstStyle/>
          <a:p>
            <a:r>
              <a:rPr lang="en-IN" sz="3600" dirty="0"/>
              <a:t>Data Preprocessing</a:t>
            </a:r>
          </a:p>
        </p:txBody>
      </p:sp>
      <p:pic>
        <p:nvPicPr>
          <p:cNvPr id="4" name="Picture 3">
            <a:extLst>
              <a:ext uri="{FF2B5EF4-FFF2-40B4-BE49-F238E27FC236}">
                <a16:creationId xmlns:a16="http://schemas.microsoft.com/office/drawing/2014/main" id="{84BA1544-70B9-8215-D7F3-95C4F258C1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648" y="1393788"/>
            <a:ext cx="4242816" cy="423581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0503239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97C9AF-BF74-8BEE-3231-65E087DAA0A1}"/>
              </a:ext>
            </a:extLst>
          </p:cNvPr>
          <p:cNvSpPr txBox="1"/>
          <p:nvPr/>
        </p:nvSpPr>
        <p:spPr>
          <a:xfrm>
            <a:off x="733806" y="1012954"/>
            <a:ext cx="6167628" cy="48320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Identify the </a:t>
            </a:r>
            <a:r>
              <a:rPr kumimoji="0" lang="en-US" altLang="en-US" sz="2800" b="1" i="0" u="none" strike="noStrike" cap="none" normalizeH="0" baseline="0" dirty="0">
                <a:ln>
                  <a:noFill/>
                </a:ln>
                <a:solidFill>
                  <a:schemeClr val="tx1"/>
                </a:solidFill>
                <a:effectLst/>
                <a:latin typeface="Arial" panose="020B0604020202020204" pitchFamily="34" charset="0"/>
              </a:rPr>
              <a:t>Top EV Manufacturers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Discover the </a:t>
            </a:r>
            <a:r>
              <a:rPr kumimoji="0" lang="en-US" altLang="en-US" sz="2800" b="1" i="0" u="none" strike="noStrike" cap="none" normalizeH="0" baseline="0" dirty="0">
                <a:ln>
                  <a:noFill/>
                </a:ln>
                <a:solidFill>
                  <a:schemeClr val="tx1"/>
                </a:solidFill>
                <a:effectLst/>
                <a:latin typeface="Arial" panose="020B0604020202020204" pitchFamily="34" charset="0"/>
              </a:rPr>
              <a:t>Most Popular EV Models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Analyze the </a:t>
            </a:r>
            <a:r>
              <a:rPr kumimoji="0" lang="en-US" altLang="en-US" sz="2800" b="1" i="0" u="none" strike="noStrike" cap="none" normalizeH="0" baseline="0" dirty="0">
                <a:ln>
                  <a:noFill/>
                </a:ln>
                <a:solidFill>
                  <a:schemeClr val="tx1"/>
                </a:solidFill>
                <a:effectLst/>
                <a:latin typeface="Arial" panose="020B0604020202020204" pitchFamily="34" charset="0"/>
              </a:rPr>
              <a:t>Regional Distribution</a:t>
            </a:r>
            <a:r>
              <a:rPr kumimoji="0" lang="en-US" altLang="en-US" sz="2800" b="0" i="0" u="none" strike="noStrike" cap="none" normalizeH="0" baseline="0" dirty="0">
                <a:ln>
                  <a:noFill/>
                </a:ln>
                <a:solidFill>
                  <a:schemeClr val="tx1"/>
                </a:solidFill>
                <a:effectLst/>
                <a:latin typeface="Arial" panose="020B0604020202020204" pitchFamily="34" charset="0"/>
              </a:rPr>
              <a:t> of EVs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Understand the </a:t>
            </a:r>
            <a:r>
              <a:rPr kumimoji="0" lang="en-US" altLang="en-US" sz="2800" b="1" i="0" u="none" strike="noStrike" cap="none" normalizeH="0" baseline="0" dirty="0">
                <a:ln>
                  <a:noFill/>
                </a:ln>
                <a:solidFill>
                  <a:schemeClr val="tx1"/>
                </a:solidFill>
                <a:effectLst/>
                <a:latin typeface="Arial" panose="020B0604020202020204" pitchFamily="34" charset="0"/>
              </a:rPr>
              <a:t>Breakdown by Vehicle Type</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Observe </a:t>
            </a:r>
            <a:r>
              <a:rPr kumimoji="0" lang="en-US" altLang="en-US" sz="2800" b="1" i="0" u="none" strike="noStrike" cap="none" normalizeH="0" baseline="0" dirty="0">
                <a:ln>
                  <a:noFill/>
                </a:ln>
                <a:solidFill>
                  <a:schemeClr val="tx1"/>
                </a:solidFill>
                <a:effectLst/>
                <a:latin typeface="Arial" panose="020B0604020202020204" pitchFamily="34" charset="0"/>
              </a:rPr>
              <a:t>Year-wise Growth and Trends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Build a visually appealing and interactive </a:t>
            </a:r>
            <a:r>
              <a:rPr kumimoji="0" lang="en-US" altLang="en-US" sz="2800" b="1" i="0" u="none" strike="noStrike" cap="none" normalizeH="0" baseline="0" dirty="0">
                <a:ln>
                  <a:noFill/>
                </a:ln>
                <a:solidFill>
                  <a:schemeClr val="tx1"/>
                </a:solidFill>
                <a:effectLst/>
                <a:latin typeface="Arial" panose="020B0604020202020204" pitchFamily="34" charset="0"/>
              </a:rPr>
              <a:t>Excel Dashboard</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4CCD5DD-4F9E-33F3-F5C1-B4FE0095078F}"/>
              </a:ext>
            </a:extLst>
          </p:cNvPr>
          <p:cNvSpPr txBox="1"/>
          <p:nvPr/>
        </p:nvSpPr>
        <p:spPr>
          <a:xfrm>
            <a:off x="2820924" y="0"/>
            <a:ext cx="6099048" cy="523220"/>
          </a:xfrm>
          <a:prstGeom prst="rect">
            <a:avLst/>
          </a:prstGeom>
          <a:noFill/>
        </p:spPr>
        <p:txBody>
          <a:bodyPr wrap="square">
            <a:spAutoFit/>
          </a:bodyPr>
          <a:lstStyle/>
          <a:p>
            <a:r>
              <a:rPr lang="en-IN" sz="2800" dirty="0">
                <a:latin typeface="+mj-lt"/>
              </a:rPr>
              <a:t>Objectives of the Analysis</a:t>
            </a:r>
          </a:p>
        </p:txBody>
      </p:sp>
      <p:pic>
        <p:nvPicPr>
          <p:cNvPr id="8" name="Picture 7">
            <a:extLst>
              <a:ext uri="{FF2B5EF4-FFF2-40B4-BE49-F238E27FC236}">
                <a16:creationId xmlns:a16="http://schemas.microsoft.com/office/drawing/2014/main" id="{5039FA24-B839-A11D-1DFF-0E3E57E88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1434" y="1849577"/>
            <a:ext cx="3788346" cy="3158845"/>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35965042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2CC1FC-8343-7D75-E8EC-73ACEA52F747}"/>
              </a:ext>
            </a:extLst>
          </p:cNvPr>
          <p:cNvSpPr txBox="1"/>
          <p:nvPr/>
        </p:nvSpPr>
        <p:spPr>
          <a:xfrm>
            <a:off x="3561588" y="139946"/>
            <a:ext cx="6099048" cy="523220"/>
          </a:xfrm>
          <a:prstGeom prst="rect">
            <a:avLst/>
          </a:prstGeom>
          <a:noFill/>
        </p:spPr>
        <p:txBody>
          <a:bodyPr wrap="square">
            <a:spAutoFit/>
          </a:bodyPr>
          <a:lstStyle/>
          <a:p>
            <a:r>
              <a:rPr lang="en-IN" sz="2800" dirty="0"/>
              <a:t>Top EV Manufacturers</a:t>
            </a:r>
          </a:p>
        </p:txBody>
      </p:sp>
      <p:sp>
        <p:nvSpPr>
          <p:cNvPr id="6" name="TextBox 5">
            <a:extLst>
              <a:ext uri="{FF2B5EF4-FFF2-40B4-BE49-F238E27FC236}">
                <a16:creationId xmlns:a16="http://schemas.microsoft.com/office/drawing/2014/main" id="{213FF97E-A0AE-7D06-16EB-CA079BA49080}"/>
              </a:ext>
            </a:extLst>
          </p:cNvPr>
          <p:cNvSpPr txBox="1"/>
          <p:nvPr/>
        </p:nvSpPr>
        <p:spPr>
          <a:xfrm>
            <a:off x="443484" y="1543318"/>
            <a:ext cx="692658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General Description:</a:t>
            </a:r>
            <a:r>
              <a:rPr kumimoji="0" lang="en-US" altLang="en-US" sz="2400" b="0" i="0" u="none" strike="noStrike" cap="none" normalizeH="0" baseline="0" dirty="0">
                <a:ln>
                  <a:noFill/>
                </a:ln>
                <a:solidFill>
                  <a:schemeClr val="tx1"/>
                </a:solidFill>
                <a:effectLst/>
                <a:latin typeface="Arial" panose="020B0604020202020204" pitchFamily="34" charset="0"/>
              </a:rPr>
              <a:t> Understanding which manufacturers lead the EV market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Excel Feature Used:</a:t>
            </a:r>
            <a:r>
              <a:rPr kumimoji="0" lang="en-US" altLang="en-US" sz="2400" b="0" i="0" u="none" strike="noStrike" cap="none" normalizeH="0" baseline="0" dirty="0">
                <a:ln>
                  <a:noFill/>
                </a:ln>
                <a:solidFill>
                  <a:schemeClr val="tx1"/>
                </a:solidFill>
                <a:effectLst/>
                <a:latin typeface="Arial" panose="020B0604020202020204" pitchFamily="34" charset="0"/>
              </a:rPr>
              <a:t> Pivot Table + Column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Insights: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Tesla dominates with the highest share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Nissan and Chevrolet are key contributors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Visualization:</a:t>
            </a:r>
            <a:r>
              <a:rPr kumimoji="0" lang="en-US" altLang="en-US" sz="2400" b="0" i="0" u="none" strike="noStrike" cap="none" normalizeH="0" baseline="0" dirty="0">
                <a:ln>
                  <a:noFill/>
                </a:ln>
                <a:solidFill>
                  <a:schemeClr val="tx1"/>
                </a:solidFill>
                <a:effectLst/>
                <a:latin typeface="Arial" panose="020B0604020202020204" pitchFamily="34" charset="0"/>
              </a:rPr>
              <a:t> Horizontal bar chart sorted by registration count</a:t>
            </a:r>
          </a:p>
        </p:txBody>
      </p:sp>
      <p:pic>
        <p:nvPicPr>
          <p:cNvPr id="8" name="Picture 7">
            <a:extLst>
              <a:ext uri="{FF2B5EF4-FFF2-40B4-BE49-F238E27FC236}">
                <a16:creationId xmlns:a16="http://schemas.microsoft.com/office/drawing/2014/main" id="{5502E43A-A0F3-EC11-E6AB-3E49BE783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7212" y="1979713"/>
            <a:ext cx="4286848" cy="254353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798716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B11DD6-0F6E-B5F8-70AB-3F669D4E85AE}"/>
              </a:ext>
            </a:extLst>
          </p:cNvPr>
          <p:cNvSpPr txBox="1"/>
          <p:nvPr/>
        </p:nvSpPr>
        <p:spPr>
          <a:xfrm>
            <a:off x="3046476" y="0"/>
            <a:ext cx="6099048" cy="584775"/>
          </a:xfrm>
          <a:prstGeom prst="rect">
            <a:avLst/>
          </a:prstGeom>
          <a:noFill/>
        </p:spPr>
        <p:txBody>
          <a:bodyPr wrap="square">
            <a:spAutoFit/>
          </a:bodyPr>
          <a:lstStyle/>
          <a:p>
            <a:r>
              <a:rPr lang="en-IN" sz="3200" dirty="0"/>
              <a:t>Most Popular Models</a:t>
            </a:r>
          </a:p>
        </p:txBody>
      </p:sp>
      <p:sp>
        <p:nvSpPr>
          <p:cNvPr id="9" name="TextBox 8">
            <a:extLst>
              <a:ext uri="{FF2B5EF4-FFF2-40B4-BE49-F238E27FC236}">
                <a16:creationId xmlns:a16="http://schemas.microsoft.com/office/drawing/2014/main" id="{CAA9C2BE-2870-CA4E-0858-36FFA9BFFF84}"/>
              </a:ext>
            </a:extLst>
          </p:cNvPr>
          <p:cNvSpPr txBox="1"/>
          <p:nvPr/>
        </p:nvSpPr>
        <p:spPr>
          <a:xfrm>
            <a:off x="604467" y="913959"/>
            <a:ext cx="6180381" cy="526297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General Description:</a:t>
            </a:r>
            <a:r>
              <a:rPr kumimoji="0" lang="en-US" altLang="en-US" sz="2800" b="0" i="0" u="none" strike="noStrike" cap="none" normalizeH="0" baseline="0" dirty="0">
                <a:ln>
                  <a:noFill/>
                </a:ln>
                <a:solidFill>
                  <a:schemeClr val="tx1"/>
                </a:solidFill>
                <a:effectLst/>
                <a:latin typeface="Arial" panose="020B0604020202020204" pitchFamily="34" charset="0"/>
              </a:rPr>
              <a:t> Pinpointing individual vehicle models with high adoption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Excel Tools:</a:t>
            </a:r>
            <a:r>
              <a:rPr kumimoji="0" lang="en-US" altLang="en-US" sz="2800" b="0" i="0" u="none" strike="noStrike" cap="none" normalizeH="0" baseline="0" dirty="0">
                <a:ln>
                  <a:noFill/>
                </a:ln>
                <a:solidFill>
                  <a:schemeClr val="tx1"/>
                </a:solidFill>
                <a:effectLst/>
                <a:latin typeface="Arial" panose="020B0604020202020204" pitchFamily="34" charset="0"/>
              </a:rPr>
              <a:t> Pivot Table + Filtered Model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Insights: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Tesla Model 3, Nissan Leaf among top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Certain models spike in popularity post-2020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Visualization:</a:t>
            </a:r>
            <a:r>
              <a:rPr kumimoji="0" lang="en-US" altLang="en-US" sz="2800" b="0" i="0" u="none" strike="noStrike" cap="none" normalizeH="0" baseline="0" dirty="0">
                <a:ln>
                  <a:noFill/>
                </a:ln>
                <a:solidFill>
                  <a:schemeClr val="tx1"/>
                </a:solidFill>
                <a:effectLst/>
                <a:latin typeface="Arial" panose="020B0604020202020204" pitchFamily="34" charset="0"/>
              </a:rPr>
              <a:t> Column chart with color-coded model names</a:t>
            </a:r>
          </a:p>
        </p:txBody>
      </p:sp>
      <p:pic>
        <p:nvPicPr>
          <p:cNvPr id="11" name="Picture 10">
            <a:extLst>
              <a:ext uri="{FF2B5EF4-FFF2-40B4-BE49-F238E27FC236}">
                <a16:creationId xmlns:a16="http://schemas.microsoft.com/office/drawing/2014/main" id="{D3FCBA8C-22DC-45F5-0E41-E3CE5B1E9B08}"/>
              </a:ext>
            </a:extLst>
          </p:cNvPr>
          <p:cNvPicPr>
            <a:picLocks noChangeAspect="1"/>
          </p:cNvPicPr>
          <p:nvPr/>
        </p:nvPicPr>
        <p:blipFill>
          <a:blip r:embed="rId2"/>
          <a:stretch>
            <a:fillRect/>
          </a:stretch>
        </p:blipFill>
        <p:spPr>
          <a:xfrm>
            <a:off x="7092584" y="1815672"/>
            <a:ext cx="4855576" cy="277461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3398264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D998B-FB07-DADB-576C-95F84F111256}"/>
              </a:ext>
            </a:extLst>
          </p:cNvPr>
          <p:cNvSpPr txBox="1"/>
          <p:nvPr/>
        </p:nvSpPr>
        <p:spPr>
          <a:xfrm>
            <a:off x="3360420" y="0"/>
            <a:ext cx="6099048" cy="584775"/>
          </a:xfrm>
          <a:prstGeom prst="rect">
            <a:avLst/>
          </a:prstGeom>
          <a:noFill/>
        </p:spPr>
        <p:txBody>
          <a:bodyPr wrap="square">
            <a:spAutoFit/>
          </a:bodyPr>
          <a:lstStyle/>
          <a:p>
            <a:r>
              <a:rPr lang="en-IN" sz="3200" dirty="0"/>
              <a:t>Regional Distribution</a:t>
            </a:r>
          </a:p>
        </p:txBody>
      </p:sp>
      <p:sp>
        <p:nvSpPr>
          <p:cNvPr id="6" name="TextBox 5">
            <a:extLst>
              <a:ext uri="{FF2B5EF4-FFF2-40B4-BE49-F238E27FC236}">
                <a16:creationId xmlns:a16="http://schemas.microsoft.com/office/drawing/2014/main" id="{6F98E1DF-71DD-44E2-7A25-06F0956D921C}"/>
              </a:ext>
            </a:extLst>
          </p:cNvPr>
          <p:cNvSpPr txBox="1"/>
          <p:nvPr/>
        </p:nvSpPr>
        <p:spPr>
          <a:xfrm>
            <a:off x="256032" y="1088796"/>
            <a:ext cx="5977890" cy="483209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Description:</a:t>
            </a:r>
            <a:r>
              <a:rPr kumimoji="0" lang="en-US" altLang="en-US" sz="2800" b="0" i="0" u="none" strike="noStrike" cap="none" normalizeH="0" baseline="0" dirty="0">
                <a:ln>
                  <a:noFill/>
                </a:ln>
                <a:solidFill>
                  <a:schemeClr val="tx1"/>
                </a:solidFill>
                <a:effectLst/>
                <a:latin typeface="Arial" panose="020B0604020202020204" pitchFamily="34" charset="0"/>
              </a:rPr>
              <a:t> Highlighting where EV adoption is highest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Excel Tools:</a:t>
            </a:r>
            <a:r>
              <a:rPr kumimoji="0" lang="en-US" altLang="en-US" sz="2800" b="0" i="0" u="none" strike="noStrike" cap="none" normalizeH="0" baseline="0" dirty="0">
                <a:ln>
                  <a:noFill/>
                </a:ln>
                <a:solidFill>
                  <a:schemeClr val="tx1"/>
                </a:solidFill>
                <a:effectLst/>
                <a:latin typeface="Arial" panose="020B0604020202020204" pitchFamily="34" charset="0"/>
              </a:rPr>
              <a:t> Pivot Chart + Map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Findings: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Urban hubs like Seattle and Bellevue lead adoption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Certain counties show minimal penetration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Visualization:</a:t>
            </a:r>
            <a:r>
              <a:rPr kumimoji="0" lang="en-US" altLang="en-US" sz="2800" b="0" i="0" u="none" strike="noStrike" cap="none" normalizeH="0" baseline="0" dirty="0">
                <a:ln>
                  <a:noFill/>
                </a:ln>
                <a:solidFill>
                  <a:schemeClr val="tx1"/>
                </a:solidFill>
                <a:effectLst/>
                <a:latin typeface="Arial" panose="020B0604020202020204" pitchFamily="34" charset="0"/>
              </a:rPr>
              <a:t> Geo-map with data bars</a:t>
            </a:r>
          </a:p>
        </p:txBody>
      </p:sp>
      <p:pic>
        <p:nvPicPr>
          <p:cNvPr id="10" name="Picture 9">
            <a:extLst>
              <a:ext uri="{FF2B5EF4-FFF2-40B4-BE49-F238E27FC236}">
                <a16:creationId xmlns:a16="http://schemas.microsoft.com/office/drawing/2014/main" id="{AAF31233-5076-ECC2-F4EF-84C30021D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8224" y="1088796"/>
            <a:ext cx="4934639" cy="523948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9374436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77C520-4F7B-23F6-1011-C4C7314B1D0E}"/>
              </a:ext>
            </a:extLst>
          </p:cNvPr>
          <p:cNvSpPr txBox="1"/>
          <p:nvPr/>
        </p:nvSpPr>
        <p:spPr>
          <a:xfrm>
            <a:off x="3406140" y="0"/>
            <a:ext cx="6099048" cy="523220"/>
          </a:xfrm>
          <a:prstGeom prst="rect">
            <a:avLst/>
          </a:prstGeom>
          <a:noFill/>
        </p:spPr>
        <p:txBody>
          <a:bodyPr wrap="square">
            <a:spAutoFit/>
          </a:bodyPr>
          <a:lstStyle/>
          <a:p>
            <a:r>
              <a:rPr lang="en-IN" sz="2800" dirty="0"/>
              <a:t>Vehicle Type Distribution</a:t>
            </a:r>
          </a:p>
        </p:txBody>
      </p:sp>
      <p:sp>
        <p:nvSpPr>
          <p:cNvPr id="5" name="TextBox 4">
            <a:extLst>
              <a:ext uri="{FF2B5EF4-FFF2-40B4-BE49-F238E27FC236}">
                <a16:creationId xmlns:a16="http://schemas.microsoft.com/office/drawing/2014/main" id="{36F173F0-D02B-E8FA-1AED-9D8CD036D21B}"/>
              </a:ext>
            </a:extLst>
          </p:cNvPr>
          <p:cNvSpPr txBox="1"/>
          <p:nvPr/>
        </p:nvSpPr>
        <p:spPr>
          <a:xfrm>
            <a:off x="297180" y="1159370"/>
            <a:ext cx="5116068" cy="4401205"/>
          </a:xfrm>
          <a:prstGeom prst="rect">
            <a:avLst/>
          </a:prstGeom>
          <a:noFill/>
        </p:spPr>
        <p:txBody>
          <a:bodyPr wrap="square">
            <a:spAutoFit/>
          </a:bodyPr>
          <a:lstStyle/>
          <a:p>
            <a:pPr>
              <a:buFont typeface="Arial" panose="020B0604020202020204" pitchFamily="34" charset="0"/>
              <a:buChar char="•"/>
            </a:pPr>
            <a:r>
              <a:rPr lang="en-IN" sz="2800" b="1" dirty="0"/>
              <a:t>Purpose:</a:t>
            </a:r>
            <a:r>
              <a:rPr lang="en-IN" sz="2800" dirty="0"/>
              <a:t> </a:t>
            </a:r>
            <a:r>
              <a:rPr lang="en-IN" sz="2800" dirty="0" err="1"/>
              <a:t>Analyze</a:t>
            </a:r>
            <a:r>
              <a:rPr lang="en-IN" sz="2800" dirty="0"/>
              <a:t> Battery Electric vs Plug-in Hybrid vehicle trends</a:t>
            </a:r>
          </a:p>
          <a:p>
            <a:pPr>
              <a:buFont typeface="Arial" panose="020B0604020202020204" pitchFamily="34" charset="0"/>
              <a:buChar char="•"/>
            </a:pPr>
            <a:r>
              <a:rPr lang="en-IN" sz="2800" b="1" dirty="0"/>
              <a:t>Method:</a:t>
            </a:r>
            <a:r>
              <a:rPr lang="en-IN" sz="2800" dirty="0"/>
              <a:t> Pie Chart &amp; Bar Chart from Pivot Tables</a:t>
            </a:r>
          </a:p>
          <a:p>
            <a:pPr>
              <a:buFont typeface="Arial" panose="020B0604020202020204" pitchFamily="34" charset="0"/>
              <a:buChar char="•"/>
            </a:pPr>
            <a:r>
              <a:rPr lang="en-IN" sz="2800" b="1" dirty="0"/>
              <a:t>Observations:</a:t>
            </a:r>
            <a:endParaRPr lang="en-IN" sz="2800" dirty="0"/>
          </a:p>
          <a:p>
            <a:pPr marL="742950" lvl="1" indent="-285750">
              <a:buFont typeface="Arial" panose="020B0604020202020204" pitchFamily="34" charset="0"/>
              <a:buChar char="•"/>
            </a:pPr>
            <a:r>
              <a:rPr lang="en-IN" sz="2800" dirty="0"/>
              <a:t>Battery Electric Vehicles (BEVs) lead the way</a:t>
            </a:r>
          </a:p>
          <a:p>
            <a:pPr marL="742950" lvl="1" indent="-285750">
              <a:buFont typeface="Arial" panose="020B0604020202020204" pitchFamily="34" charset="0"/>
              <a:buChar char="•"/>
            </a:pPr>
            <a:r>
              <a:rPr lang="en-IN" sz="2800" dirty="0"/>
              <a:t>Plug-in Hybrids maintain a stable presence</a:t>
            </a:r>
          </a:p>
        </p:txBody>
      </p:sp>
      <p:pic>
        <p:nvPicPr>
          <p:cNvPr id="7" name="Picture 6">
            <a:extLst>
              <a:ext uri="{FF2B5EF4-FFF2-40B4-BE49-F238E27FC236}">
                <a16:creationId xmlns:a16="http://schemas.microsoft.com/office/drawing/2014/main" id="{C6F6DC19-E884-6F8A-F2A3-65E38760B4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8433" y="2002470"/>
            <a:ext cx="4163006" cy="271500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2214694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1447F-CB0C-AE1D-C960-B83C15B0BD3C}"/>
              </a:ext>
            </a:extLst>
          </p:cNvPr>
          <p:cNvSpPr txBox="1"/>
          <p:nvPr/>
        </p:nvSpPr>
        <p:spPr>
          <a:xfrm>
            <a:off x="3909060" y="0"/>
            <a:ext cx="6099048" cy="523220"/>
          </a:xfrm>
          <a:prstGeom prst="rect">
            <a:avLst/>
          </a:prstGeom>
          <a:noFill/>
        </p:spPr>
        <p:txBody>
          <a:bodyPr wrap="square">
            <a:spAutoFit/>
          </a:bodyPr>
          <a:lstStyle/>
          <a:p>
            <a:r>
              <a:rPr lang="en-IN" sz="2800" dirty="0"/>
              <a:t>Year-wise Trends</a:t>
            </a:r>
          </a:p>
        </p:txBody>
      </p:sp>
      <p:sp>
        <p:nvSpPr>
          <p:cNvPr id="6" name="TextBox 5">
            <a:extLst>
              <a:ext uri="{FF2B5EF4-FFF2-40B4-BE49-F238E27FC236}">
                <a16:creationId xmlns:a16="http://schemas.microsoft.com/office/drawing/2014/main" id="{3CEFF6E6-F1C1-1D5F-285C-67B4520A3154}"/>
              </a:ext>
            </a:extLst>
          </p:cNvPr>
          <p:cNvSpPr txBox="1"/>
          <p:nvPr/>
        </p:nvSpPr>
        <p:spPr>
          <a:xfrm>
            <a:off x="200808" y="1270338"/>
            <a:ext cx="6629760" cy="39703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Goal:</a:t>
            </a:r>
            <a:r>
              <a:rPr kumimoji="0" lang="en-US" altLang="en-US" sz="2800" b="0" i="0" u="none" strike="noStrike" cap="none" normalizeH="0" baseline="0" dirty="0">
                <a:ln>
                  <a:noFill/>
                </a:ln>
                <a:solidFill>
                  <a:schemeClr val="tx1"/>
                </a:solidFill>
                <a:effectLst/>
                <a:latin typeface="Arial" panose="020B0604020202020204" pitchFamily="34" charset="0"/>
              </a:rPr>
              <a:t> Track how EV registrations have evolved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Excel Tools:</a:t>
            </a:r>
            <a:r>
              <a:rPr kumimoji="0" lang="en-US" altLang="en-US" sz="2800" b="0" i="0" u="none" strike="noStrike" cap="none" normalizeH="0" baseline="0" dirty="0">
                <a:ln>
                  <a:noFill/>
                </a:ln>
                <a:solidFill>
                  <a:schemeClr val="tx1"/>
                </a:solidFill>
                <a:effectLst/>
                <a:latin typeface="Arial" panose="020B0604020202020204" pitchFamily="34" charset="0"/>
              </a:rPr>
              <a:t> Line Chart + Slicers for interactivity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Result:</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Steady growth since 2015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Massive uptick post-2019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Visualization:</a:t>
            </a:r>
            <a:r>
              <a:rPr kumimoji="0" lang="en-US" altLang="en-US" sz="2800" b="0" i="0" u="none" strike="noStrike" cap="none" normalizeH="0" baseline="0" dirty="0">
                <a:ln>
                  <a:noFill/>
                </a:ln>
                <a:solidFill>
                  <a:schemeClr val="tx1"/>
                </a:solidFill>
                <a:effectLst/>
                <a:latin typeface="Arial" panose="020B0604020202020204" pitchFamily="34" charset="0"/>
              </a:rPr>
              <a:t> Interactive line chart with slicers for year filtering</a:t>
            </a:r>
          </a:p>
        </p:txBody>
      </p:sp>
      <p:pic>
        <p:nvPicPr>
          <p:cNvPr id="8" name="Picture 7">
            <a:extLst>
              <a:ext uri="{FF2B5EF4-FFF2-40B4-BE49-F238E27FC236}">
                <a16:creationId xmlns:a16="http://schemas.microsoft.com/office/drawing/2014/main" id="{4E302B2B-D375-14AB-D676-35298C017D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2760" y="1884863"/>
            <a:ext cx="3982006" cy="253400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795015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CBB148-6946-192B-0EA5-804EEC29D09D}"/>
              </a:ext>
            </a:extLst>
          </p:cNvPr>
          <p:cNvSpPr txBox="1"/>
          <p:nvPr/>
        </p:nvSpPr>
        <p:spPr>
          <a:xfrm>
            <a:off x="3570732" y="0"/>
            <a:ext cx="6099048" cy="584775"/>
          </a:xfrm>
          <a:prstGeom prst="rect">
            <a:avLst/>
          </a:prstGeom>
          <a:noFill/>
        </p:spPr>
        <p:txBody>
          <a:bodyPr wrap="square">
            <a:spAutoFit/>
          </a:bodyPr>
          <a:lstStyle/>
          <a:p>
            <a:r>
              <a:rPr lang="en-IN" sz="3200" dirty="0"/>
              <a:t>Final Dashboard</a:t>
            </a:r>
          </a:p>
        </p:txBody>
      </p:sp>
      <p:sp>
        <p:nvSpPr>
          <p:cNvPr id="6" name="TextBox 5">
            <a:extLst>
              <a:ext uri="{FF2B5EF4-FFF2-40B4-BE49-F238E27FC236}">
                <a16:creationId xmlns:a16="http://schemas.microsoft.com/office/drawing/2014/main" id="{239F86B0-12EA-FEB2-6764-17F63815E482}"/>
              </a:ext>
            </a:extLst>
          </p:cNvPr>
          <p:cNvSpPr txBox="1"/>
          <p:nvPr/>
        </p:nvSpPr>
        <p:spPr>
          <a:xfrm>
            <a:off x="2484792" y="3072348"/>
            <a:ext cx="5689944"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Integrated all objectives into a single dashboard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Includes: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Dynamic slicers (Make, Model Year, Region)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Linked charts for interactivity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Clean layout with slicer color-coded buttons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Purpose:</a:t>
            </a:r>
            <a:r>
              <a:rPr kumimoji="0" lang="en-US" altLang="en-US" sz="2400" b="0" i="0" u="none" strike="noStrike" cap="none" normalizeH="0" baseline="0" dirty="0">
                <a:ln>
                  <a:noFill/>
                </a:ln>
                <a:solidFill>
                  <a:schemeClr val="tx1"/>
                </a:solidFill>
                <a:effectLst/>
                <a:latin typeface="Arial" panose="020B0604020202020204" pitchFamily="34" charset="0"/>
              </a:rPr>
              <a:t> Instant insight delivery with filters</a:t>
            </a:r>
          </a:p>
        </p:txBody>
      </p:sp>
      <p:pic>
        <p:nvPicPr>
          <p:cNvPr id="8" name="Picture 7">
            <a:extLst>
              <a:ext uri="{FF2B5EF4-FFF2-40B4-BE49-F238E27FC236}">
                <a16:creationId xmlns:a16="http://schemas.microsoft.com/office/drawing/2014/main" id="{3A31DFB4-75F6-BC27-03C4-158057453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1136" y="852645"/>
            <a:ext cx="5943600" cy="1999182"/>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859611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2D4E52-7623-1114-6FA6-1B86FEF1AECF}"/>
              </a:ext>
            </a:extLst>
          </p:cNvPr>
          <p:cNvSpPr txBox="1"/>
          <p:nvPr/>
        </p:nvSpPr>
        <p:spPr>
          <a:xfrm>
            <a:off x="4238244" y="0"/>
            <a:ext cx="6099048" cy="646331"/>
          </a:xfrm>
          <a:prstGeom prst="rect">
            <a:avLst/>
          </a:prstGeom>
          <a:noFill/>
        </p:spPr>
        <p:txBody>
          <a:bodyPr wrap="square">
            <a:spAutoFit/>
          </a:bodyPr>
          <a:lstStyle/>
          <a:p>
            <a:r>
              <a:rPr lang="en-IN" sz="3600" dirty="0"/>
              <a:t>Conclusion</a:t>
            </a:r>
          </a:p>
        </p:txBody>
      </p:sp>
      <p:sp>
        <p:nvSpPr>
          <p:cNvPr id="5" name="TextBox 4">
            <a:extLst>
              <a:ext uri="{FF2B5EF4-FFF2-40B4-BE49-F238E27FC236}">
                <a16:creationId xmlns:a16="http://schemas.microsoft.com/office/drawing/2014/main" id="{DBF88153-87A1-99AD-2E92-672745B3C219}"/>
              </a:ext>
            </a:extLst>
          </p:cNvPr>
          <p:cNvSpPr txBox="1"/>
          <p:nvPr/>
        </p:nvSpPr>
        <p:spPr>
          <a:xfrm>
            <a:off x="2839212" y="1515332"/>
            <a:ext cx="6099048" cy="3539430"/>
          </a:xfrm>
          <a:prstGeom prst="rect">
            <a:avLst/>
          </a:prstGeom>
          <a:noFill/>
        </p:spPr>
        <p:txBody>
          <a:bodyPr wrap="square">
            <a:spAutoFit/>
          </a:bodyPr>
          <a:lstStyle/>
          <a:p>
            <a:r>
              <a:rPr lang="en-US" sz="2800" dirty="0"/>
              <a:t>The dashboard provides a deep, intuitive look into the electric vehicle landscape. It highlights leading manufacturers, growing trends, and regional disparities. Excel's advanced visualization and pivot capabilities make the insights both accessible and actionable.</a:t>
            </a:r>
            <a:endParaRPr lang="en-IN" sz="2800" dirty="0"/>
          </a:p>
        </p:txBody>
      </p:sp>
    </p:spTree>
    <p:extLst>
      <p:ext uri="{BB962C8B-B14F-4D97-AF65-F5344CB8AC3E}">
        <p14:creationId xmlns:p14="http://schemas.microsoft.com/office/powerpoint/2010/main" val="18744354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3DC9F106-97DB-558F-3B61-935A9C692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4584"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61705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62</TotalTime>
  <Words>482</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Rounded MT Bold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Harish Kumar</dc:creator>
  <cp:lastModifiedBy>Harish Kumar</cp:lastModifiedBy>
  <cp:revision>1</cp:revision>
  <dcterms:created xsi:type="dcterms:W3CDTF">2025-04-12T15:48:59Z</dcterms:created>
  <dcterms:modified xsi:type="dcterms:W3CDTF">2025-04-14T06:17:59Z</dcterms:modified>
</cp:coreProperties>
</file>